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70" r:id="rId5"/>
    <p:sldId id="259" r:id="rId6"/>
    <p:sldId id="271" r:id="rId7"/>
    <p:sldId id="260" r:id="rId8"/>
    <p:sldId id="261" r:id="rId9"/>
    <p:sldId id="262" r:id="rId10"/>
    <p:sldId id="263" r:id="rId11"/>
    <p:sldId id="264" r:id="rId12"/>
    <p:sldId id="272" r:id="rId13"/>
    <p:sldId id="265" r:id="rId14"/>
    <p:sldId id="266" r:id="rId15"/>
    <p:sldId id="267" r:id="rId16"/>
    <p:sldId id="268" r:id="rId17"/>
    <p:sldId id="269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372600" y="-274320"/>
            <a:ext cx="3383280" cy="7406640"/>
          </a:xfrm>
          <a:prstGeom prst="rect">
            <a:avLst/>
          </a:prstGeom>
          <a:solidFill>
            <a:srgbClr val="715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966960" y="914400"/>
            <a:ext cx="1783080" cy="109728"/>
          </a:xfrm>
          <a:prstGeom prst="rect">
            <a:avLst/>
          </a:prstGeom>
          <a:solidFill>
            <a:srgbClr val="8E7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488168" y="2788920"/>
            <a:ext cx="1234440" cy="109728"/>
          </a:xfrm>
          <a:prstGeom prst="rect">
            <a:avLst/>
          </a:prstGeom>
          <a:solidFill>
            <a:srgbClr val="8E7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326880" y="5029200"/>
            <a:ext cx="2011680" cy="109728"/>
          </a:xfrm>
          <a:prstGeom prst="rect">
            <a:avLst/>
          </a:prstGeom>
          <a:solidFill>
            <a:srgbClr val="8E7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658368"/>
            <a:ext cx="7315200" cy="32918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100"/>
              </a:spcAft>
              <a:defRPr sz="1300" b="1">
                <a:solidFill>
                  <a:srgbClr val="AD99FF"/>
                </a:solidFill>
                <a:latin typeface="Aptos"/>
              </a:defRPr>
            </a:pPr>
            <a:r>
              <a:t>EPICODE  /  MODULO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1472184"/>
            <a:ext cx="8229600" cy="83210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100"/>
              </a:spcAft>
              <a:defRPr sz="4600" b="1">
                <a:solidFill>
                  <a:srgbClr val="FFFFFF"/>
                </a:solidFill>
                <a:latin typeface="Aptos"/>
              </a:defRPr>
            </a:pPr>
            <a:r>
              <a:t>TOYSGROUP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487168"/>
            <a:ext cx="8229600" cy="13258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1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Dal dato grezzo</a:t>
            </a:r>
          </a:p>
          <a:p>
            <a:pPr algn="l">
              <a:spcAft>
                <a:spcPts val="1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alle decisioni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4956048"/>
            <a:ext cx="8321040" cy="74980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100"/>
              </a:spcAft>
              <a:defRPr sz="1600" b="0">
                <a:solidFill>
                  <a:srgbClr val="CFD4E9"/>
                </a:solidFill>
                <a:latin typeface="Aptos"/>
              </a:defRPr>
            </a:pPr>
            <a:r>
              <a:t>Analisi vendite, visualizzazioni e Machine Learning</a:t>
            </a:r>
          </a:p>
          <a:p>
            <a:pPr algn="l">
              <a:spcAft>
                <a:spcPts val="100"/>
              </a:spcAft>
              <a:defRPr sz="1600" b="0">
                <a:solidFill>
                  <a:srgbClr val="CFD4E9"/>
                </a:solidFill>
                <a:latin typeface="Aptos"/>
              </a:defRPr>
            </a:pPr>
            <a:r>
              <a:t>Progetto finale Python  ·  Periodo 2023–2025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" y="6016752"/>
            <a:ext cx="4297680" cy="34747"/>
          </a:xfrm>
          <a:prstGeom prst="rect">
            <a:avLst/>
          </a:prstGeom>
          <a:solidFill>
            <a:srgbClr val="1DA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715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8229600" cy="246888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r>
              <a:rPr sz="1100" b="1">
                <a:solidFill>
                  <a:srgbClr val="644BF2"/>
                </a:solidFill>
              </a:rPr>
              <a:t>01 / SCENARIO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22376"/>
            <a:ext cx="11018520" cy="49377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100"/>
              </a:spcAft>
              <a:defRPr sz="2900" b="1">
                <a:solidFill>
                  <a:srgbClr val="101936"/>
                </a:solidFill>
                <a:latin typeface="Aptos"/>
              </a:defRPr>
            </a:pPr>
            <a:r>
              <a:t>Il punto di partenza: 4 file, un solo caso aziendale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307592"/>
            <a:ext cx="1088136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100"/>
              </a:spcAft>
              <a:defRPr sz="1300" b="0">
                <a:solidFill>
                  <a:srgbClr val="6F7890"/>
                </a:solidFill>
                <a:latin typeface="Aptos"/>
              </a:defRPr>
            </a:pPr>
            <a:r>
              <a:t>ToysGroup distribuisce giocattoli a rivenditori in diverse aree europee.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6528816"/>
            <a:ext cx="10963656" cy="10972"/>
          </a:xfrm>
          <a:prstGeom prst="rect">
            <a:avLst/>
          </a:prstGeom>
          <a:solidFill>
            <a:srgbClr val="E7E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1792" y="6574536"/>
            <a:ext cx="7315200" cy="20116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100"/>
              </a:spcAft>
              <a:defRPr sz="900" b="0">
                <a:solidFill>
                  <a:srgbClr val="6F7890"/>
                </a:solidFill>
                <a:latin typeface="Aptos"/>
              </a:defRPr>
            </a:pPr>
            <a:r>
              <a:t>EPICODE  •  TOYSGROUP  |  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1672" y="6565392"/>
            <a:ext cx="457200" cy="21031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900"/>
              <a:t>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920240"/>
            <a:ext cx="2688336" cy="26334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7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86384" y="2103120"/>
            <a:ext cx="493776" cy="50292"/>
          </a:xfrm>
          <a:prstGeom prst="rect">
            <a:avLst/>
          </a:prstGeom>
          <a:solidFill>
            <a:srgbClr val="715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2" y="2322576"/>
            <a:ext cx="2249424" cy="6858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100"/>
              </a:spcAft>
              <a:defRPr sz="3900" b="1">
                <a:solidFill>
                  <a:srgbClr val="101936"/>
                </a:solidFill>
                <a:latin typeface="Aptos"/>
              </a:defRPr>
            </a:pPr>
            <a:r>
              <a:t>2.000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3218688"/>
            <a:ext cx="2295144" cy="3383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100"/>
              </a:spcAft>
              <a:defRPr sz="1300" b="1">
                <a:solidFill>
                  <a:srgbClr val="7154EF"/>
                </a:solidFill>
                <a:latin typeface="Aptos"/>
              </a:defRPr>
            </a:pPr>
            <a:r>
              <a:t>VENDITE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3794760"/>
            <a:ext cx="2286000" cy="53035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100"/>
              </a:spcAft>
              <a:defRPr sz="1200" b="0">
                <a:solidFill>
                  <a:srgbClr val="6F7890"/>
                </a:solidFill>
                <a:latin typeface="Aptos"/>
              </a:defRPr>
            </a:pPr>
            <a:r>
              <a:t>JSON · importi e quantità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29584" y="1920240"/>
            <a:ext cx="2688336" cy="26334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7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94176" y="2103120"/>
            <a:ext cx="493776" cy="50292"/>
          </a:xfrm>
          <a:prstGeom prst="rect">
            <a:avLst/>
          </a:prstGeom>
          <a:solidFill>
            <a:srgbClr val="715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712464" y="2322576"/>
            <a:ext cx="2249424" cy="6858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100"/>
              </a:spcAft>
              <a:defRPr sz="3900" b="1">
                <a:solidFill>
                  <a:srgbClr val="101936"/>
                </a:solidFill>
                <a:latin typeface="Aptos"/>
              </a:defRPr>
            </a:pPr>
            <a:r>
              <a:t>300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12464" y="3218688"/>
            <a:ext cx="2295144" cy="3383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100"/>
              </a:spcAft>
              <a:defRPr sz="1300" b="1">
                <a:solidFill>
                  <a:srgbClr val="7154EF"/>
                </a:solidFill>
                <a:latin typeface="Aptos"/>
              </a:defRPr>
            </a:pPr>
            <a:r>
              <a:t>RIVENDITORI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12464" y="3794760"/>
            <a:ext cx="2286000" cy="53035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100"/>
              </a:spcAft>
              <a:defRPr sz="1200" b="0">
                <a:solidFill>
                  <a:srgbClr val="6F7890"/>
                </a:solidFill>
                <a:latin typeface="Aptos"/>
              </a:defRPr>
            </a:pPr>
            <a:r>
              <a:t>CSV · ordini e churn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37376" y="1920240"/>
            <a:ext cx="2688336" cy="26334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7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601968" y="2103120"/>
            <a:ext cx="493776" cy="50292"/>
          </a:xfrm>
          <a:prstGeom prst="rect">
            <a:avLst/>
          </a:prstGeom>
          <a:solidFill>
            <a:srgbClr val="1DA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20256" y="2322576"/>
            <a:ext cx="2249424" cy="6858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100"/>
              </a:spcAft>
              <a:defRPr sz="3900" b="1">
                <a:solidFill>
                  <a:srgbClr val="101936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0256" y="3218688"/>
            <a:ext cx="2295144" cy="3383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100"/>
              </a:spcAft>
              <a:defRPr sz="1300" b="1">
                <a:solidFill>
                  <a:srgbClr val="7154EF"/>
                </a:solidFill>
                <a:latin typeface="Aptos"/>
              </a:defRPr>
            </a:pPr>
            <a:r>
              <a:t>PRODOTTI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0256" y="3794760"/>
            <a:ext cx="2286000" cy="53035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100"/>
              </a:spcAft>
              <a:defRPr sz="1200" b="0">
                <a:solidFill>
                  <a:srgbClr val="6F7890"/>
                </a:solidFill>
                <a:latin typeface="Aptos"/>
              </a:defRPr>
            </a:pPr>
            <a:r>
              <a:t>CSV · categoria e prezzo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345168" y="1920240"/>
            <a:ext cx="2688336" cy="26334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7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509760" y="2103120"/>
            <a:ext cx="493776" cy="50292"/>
          </a:xfrm>
          <a:prstGeom prst="rect">
            <a:avLst/>
          </a:prstGeom>
          <a:solidFill>
            <a:srgbClr val="1DA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528048" y="2322576"/>
            <a:ext cx="2249424" cy="6858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100"/>
              </a:spcAft>
              <a:defRPr sz="3900" b="1">
                <a:solidFill>
                  <a:srgbClr val="101936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28048" y="3218688"/>
            <a:ext cx="2295144" cy="3383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100"/>
              </a:spcAft>
              <a:defRPr sz="1300" b="1">
                <a:solidFill>
                  <a:srgbClr val="7154EF"/>
                </a:solidFill>
                <a:latin typeface="Aptos"/>
              </a:defRPr>
            </a:pPr>
            <a:r>
              <a:t>AREE/STATI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28048" y="3794760"/>
            <a:ext cx="2286000" cy="53035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100"/>
              </a:spcAft>
              <a:defRPr sz="1200" b="0">
                <a:solidFill>
                  <a:srgbClr val="6F7890"/>
                </a:solidFill>
                <a:latin typeface="Aptos"/>
              </a:defRPr>
            </a:pPr>
            <a:r>
              <a:t>Excel · geografia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" y="4892040"/>
            <a:ext cx="10936224" cy="832104"/>
          </a:xfrm>
          <a:prstGeom prst="roundRect">
            <a:avLst>
              <a:gd name="adj" fmla="val 9000"/>
            </a:avLst>
          </a:prstGeom>
          <a:solidFill>
            <a:srgbClr val="EE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32104" y="5120640"/>
            <a:ext cx="1078992" cy="23774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100"/>
              </a:spcAft>
              <a:defRPr sz="1000" b="1">
                <a:solidFill>
                  <a:srgbClr val="7154EF"/>
                </a:solidFill>
                <a:latin typeface="Aptos"/>
              </a:defRPr>
            </a:pPr>
            <a:r>
              <a:t>OBIETTIVO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65376" y="5074920"/>
            <a:ext cx="9079992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100"/>
              </a:spcAft>
              <a:defRPr sz="1700" b="1">
                <a:solidFill>
                  <a:srgbClr val="101936"/>
                </a:solidFill>
                <a:latin typeface="Aptos"/>
              </a:defRPr>
            </a:pPr>
            <a:r>
              <a:t>Capire cosa genera fatturato e individuare i rivenditori più a rischio.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715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8229600" cy="246888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r>
              <a:rPr sz="1100" b="1">
                <a:solidFill>
                  <a:srgbClr val="644BF2"/>
                </a:solidFill>
              </a:rPr>
              <a:t>02 / METODO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22376"/>
            <a:ext cx="11018520" cy="49377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100"/>
              </a:spcAft>
              <a:defRPr sz="2900" b="1">
                <a:solidFill>
                  <a:srgbClr val="101936"/>
                </a:solidFill>
                <a:latin typeface="Aptos"/>
              </a:defRPr>
            </a:pPr>
            <a:r>
              <a:t>Un percorso completo in Python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307592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t>Ogni task prepara i dati e le informazioni necessari a quello successivo.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6528816"/>
            <a:ext cx="10963656" cy="10972"/>
          </a:xfrm>
          <a:prstGeom prst="rect">
            <a:avLst/>
          </a:prstGeom>
          <a:solidFill>
            <a:srgbClr val="E7E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1792" y="6574536"/>
            <a:ext cx="7315200" cy="20116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100"/>
              </a:spcAft>
              <a:defRPr sz="900" b="0">
                <a:solidFill>
                  <a:srgbClr val="6F7890"/>
                </a:solidFill>
                <a:latin typeface="Aptos"/>
              </a:defRPr>
            </a:pPr>
            <a:r>
              <a:t>EPICODE  •  TOYSGROUP  |  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1672" y="6565392"/>
            <a:ext cx="457200" cy="21031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900"/>
              <a:t>03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2103120"/>
            <a:ext cx="2606040" cy="30632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7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32104" y="2359152"/>
            <a:ext cx="512064" cy="512064"/>
          </a:xfrm>
          <a:prstGeom prst="roundRect">
            <a:avLst>
              <a:gd name="adj" fmla="val 9000"/>
            </a:avLst>
          </a:prstGeom>
          <a:solidFill>
            <a:srgbClr val="715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2487168"/>
            <a:ext cx="45720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Aft>
                <a:spcPts val="1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" y="3163824"/>
            <a:ext cx="2240280" cy="4114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t>LETTURA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" y="3602736"/>
            <a:ext cx="2212848" cy="5760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50">
                <a:solidFill>
                  <a:srgbClr val="556480"/>
                </a:solidFill>
              </a:rPr>
              <a:t>Caricamento ed esplorazione</a:t>
            </a:r>
          </a:p>
          <a:p>
            <a:r>
              <a:rPr sz="1350">
                <a:solidFill>
                  <a:srgbClr val="556480"/>
                </a:solidFill>
              </a:rPr>
              <a:t>iniziale dei dati.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3099816"/>
            <a:ext cx="27432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Aft>
                <a:spcPts val="100"/>
              </a:spcAft>
              <a:defRPr sz="2100" b="1">
                <a:solidFill>
                  <a:srgbClr val="7154E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29584" y="2103120"/>
            <a:ext cx="2606040" cy="30632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7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3739896" y="2359152"/>
            <a:ext cx="512064" cy="512064"/>
          </a:xfrm>
          <a:prstGeom prst="roundRect">
            <a:avLst>
              <a:gd name="adj" fmla="val 9000"/>
            </a:avLst>
          </a:prstGeom>
          <a:solidFill>
            <a:srgbClr val="715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776472" y="2487168"/>
            <a:ext cx="45720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Aft>
                <a:spcPts val="1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39896" y="3163824"/>
            <a:ext cx="2240280" cy="4114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t>PULIZIA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39896" y="3602736"/>
            <a:ext cx="2212848" cy="5760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50">
                <a:solidFill>
                  <a:srgbClr val="556480"/>
                </a:solidFill>
              </a:rPr>
              <a:t>Gestione dei valori mancanti</a:t>
            </a:r>
          </a:p>
          <a:p>
            <a:r>
              <a:rPr sz="1350">
                <a:solidFill>
                  <a:srgbClr val="556480"/>
                </a:solidFill>
              </a:rPr>
              <a:t>e preparazione dei dati.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53912" y="3099816"/>
            <a:ext cx="27432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Aft>
                <a:spcPts val="100"/>
              </a:spcAft>
              <a:defRPr sz="2100" b="1">
                <a:solidFill>
                  <a:srgbClr val="7154E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37376" y="2103120"/>
            <a:ext cx="2606040" cy="30632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7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647688" y="2359152"/>
            <a:ext cx="512064" cy="512064"/>
          </a:xfrm>
          <a:prstGeom prst="roundRect">
            <a:avLst>
              <a:gd name="adj" fmla="val 9000"/>
            </a:avLst>
          </a:prstGeom>
          <a:solidFill>
            <a:srgbClr val="715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84264" y="2487168"/>
            <a:ext cx="45720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Aft>
                <a:spcPts val="1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47688" y="3163824"/>
            <a:ext cx="2240280" cy="4114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t>COMPRENSIONE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47688" y="3602736"/>
            <a:ext cx="2212848" cy="5760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50">
                <a:solidFill>
                  <a:srgbClr val="556480"/>
                </a:solidFill>
              </a:rPr>
              <a:t>Analisi delle vendite e</a:t>
            </a:r>
          </a:p>
          <a:p>
            <a:r>
              <a:rPr sz="1350">
                <a:solidFill>
                  <a:srgbClr val="556480"/>
                </a:solidFill>
              </a:rPr>
              <a:t>creazione dei grafici.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61704" y="3099816"/>
            <a:ext cx="27432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Aft>
                <a:spcPts val="100"/>
              </a:spcAft>
              <a:defRPr sz="2100" b="1">
                <a:solidFill>
                  <a:srgbClr val="7154E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45168" y="2103120"/>
            <a:ext cx="2606040" cy="30632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7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9555480" y="2359152"/>
            <a:ext cx="512064" cy="512064"/>
          </a:xfrm>
          <a:prstGeom prst="roundRect">
            <a:avLst>
              <a:gd name="adj" fmla="val 9000"/>
            </a:avLst>
          </a:prstGeom>
          <a:solidFill>
            <a:srgbClr val="1DA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592056" y="2487168"/>
            <a:ext cx="45720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Aft>
                <a:spcPts val="1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55480" y="3163824"/>
            <a:ext cx="2240280" cy="4114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t>PREVISIONE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55480" y="3602736"/>
            <a:ext cx="2212848" cy="5760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50">
                <a:solidFill>
                  <a:srgbClr val="556480"/>
                </a:solidFill>
              </a:rPr>
              <a:t>Modelli di Machine Learning</a:t>
            </a:r>
          </a:p>
          <a:p>
            <a:r>
              <a:rPr sz="1350">
                <a:solidFill>
                  <a:srgbClr val="556480"/>
                </a:solidFill>
              </a:rPr>
              <a:t>per analisi e classificazione.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5422392"/>
            <a:ext cx="10899648" cy="649224"/>
          </a:xfrm>
          <a:prstGeom prst="roundRect">
            <a:avLst>
              <a:gd name="adj" fmla="val 9000"/>
            </a:avLst>
          </a:prstGeom>
          <a:solidFill>
            <a:srgbClr val="EE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32104" y="5596128"/>
            <a:ext cx="10442448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t>Il task 7, dedicato al debugging.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" y="4846320"/>
            <a:ext cx="210312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1E4CD6"/>
                </a:solidFill>
                <a:latin typeface="Aptos"/>
              </a:rPr>
              <a:t>TASK 1–2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39896" y="4846320"/>
            <a:ext cx="210312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1E4CD6"/>
                </a:solidFill>
                <a:latin typeface="Aptos"/>
              </a:rPr>
              <a:t>TASK 3A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47688" y="4846320"/>
            <a:ext cx="210312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1E4CD6"/>
                </a:solidFill>
                <a:latin typeface="Aptos"/>
              </a:rPr>
              <a:t>TASK 3B–3C–4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55480" y="4846320"/>
            <a:ext cx="210312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1E4CD6"/>
                </a:solidFill>
                <a:latin typeface="Aptos"/>
              </a:rPr>
              <a:t>TASK 5–6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" y="4197096"/>
            <a:ext cx="2212848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111B3B"/>
                </a:solidFill>
              </a:rPr>
              <a:t>Strumenti: </a:t>
            </a:r>
            <a:r>
              <a:rPr sz="1100">
                <a:solidFill>
                  <a:srgbClr val="506281"/>
                </a:solidFill>
              </a:rPr>
              <a:t>Python, Pandas, NumPy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39896" y="4197096"/>
            <a:ext cx="2212848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111B3B"/>
                </a:solidFill>
              </a:rPr>
              <a:t>Strumenti: </a:t>
            </a:r>
            <a:r>
              <a:rPr sz="1100">
                <a:solidFill>
                  <a:srgbClr val="506281"/>
                </a:solidFill>
              </a:rPr>
              <a:t>Pandas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47688" y="4197096"/>
            <a:ext cx="2212848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111B3B"/>
                </a:solidFill>
              </a:rPr>
              <a:t>Strumenti: </a:t>
            </a:r>
            <a:r>
              <a:rPr sz="1100">
                <a:solidFill>
                  <a:srgbClr val="506281"/>
                </a:solidFill>
              </a:rPr>
              <a:t>Pandas, Matplotlib, Seaborn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55480" y="4197096"/>
            <a:ext cx="2212848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111B3B"/>
                </a:solidFill>
              </a:rPr>
              <a:t>Strumenti: </a:t>
            </a:r>
            <a:r>
              <a:rPr sz="1100">
                <a:solidFill>
                  <a:srgbClr val="506281"/>
                </a:solidFill>
              </a:rPr>
              <a:t>Scikit-learn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ide_clean_presentation_slide_dashboard_like_in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715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8229600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644BF2"/>
                </a:solidFill>
              </a:rPr>
              <a:t>04 / DATA QUALITY · TASK 3A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22376"/>
            <a:ext cx="11018520" cy="493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00"/>
              </a:spcAft>
              <a:defRPr sz="2900" b="1">
                <a:solidFill>
                  <a:srgbClr val="101936"/>
                </a:solidFill>
                <a:latin typeface="Aptos"/>
              </a:defRPr>
            </a:pPr>
            <a:r>
              <a:rPr sz="2600" b="1">
                <a:solidFill>
                  <a:srgbClr val="081B3A"/>
                </a:solidFill>
                <a:latin typeface="Aptos"/>
              </a:rPr>
              <a:t>Pulizia del dataset: da 2.000 a 1.900 transazioni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307592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00"/>
              </a:spcAft>
              <a:defRPr sz="1300" b="0">
                <a:solidFill>
                  <a:srgbClr val="6F7890"/>
                </a:solidFill>
                <a:latin typeface="Aptos"/>
              </a:defRPr>
            </a:pPr>
            <a:r>
              <a:rPr sz="1400">
                <a:solidFill>
                  <a:srgbClr val="59697E"/>
                </a:solidFill>
                <a:latin typeface="Aptos"/>
              </a:rPr>
              <a:t>Due colonne con valori mancanti: abbiamo scelto soluzioni diverse.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6528816"/>
            <a:ext cx="10963656" cy="10972"/>
          </a:xfrm>
          <a:prstGeom prst="rect">
            <a:avLst/>
          </a:prstGeom>
          <a:solidFill>
            <a:srgbClr val="E7E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1792" y="6574536"/>
            <a:ext cx="7315200" cy="20116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100"/>
              </a:spcAft>
              <a:defRPr sz="900" b="0">
                <a:solidFill>
                  <a:srgbClr val="6F7890"/>
                </a:solidFill>
                <a:latin typeface="Aptos"/>
              </a:defRPr>
            </a:pPr>
            <a:r>
              <a:t>EPICODE  •  TOYSGROUP  |  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1672" y="6565392"/>
            <a:ext cx="457200" cy="21031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900"/>
              <a:t>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938528"/>
            <a:ext cx="5907024" cy="33192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7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77824" y="2231136"/>
            <a:ext cx="484632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00"/>
              </a:spcAft>
              <a:defRPr sz="1200" b="1">
                <a:solidFill>
                  <a:srgbClr val="7154EF"/>
                </a:solidFill>
                <a:latin typeface="Aptos"/>
              </a:defRPr>
            </a:pPr>
            <a:r>
              <a:rPr sz="1200" b="1">
                <a:solidFill>
                  <a:srgbClr val="1E4CD6"/>
                </a:solidFill>
                <a:latin typeface="Aptos"/>
              </a:rPr>
              <a:t>VALORI MANCANTI E SOLUZIONI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2779776"/>
            <a:ext cx="5349240" cy="850392"/>
          </a:xfrm>
          <a:prstGeom prst="roundRect">
            <a:avLst>
              <a:gd name="adj" fmla="val 9000"/>
            </a:avLst>
          </a:prstGeom>
          <a:solidFill>
            <a:srgbClr val="F5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69848" y="2907792"/>
            <a:ext cx="1965960" cy="30175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100"/>
              </a:spcAft>
              <a:defRPr sz="1600" b="1">
                <a:solidFill>
                  <a:srgbClr val="101936"/>
                </a:solidFill>
                <a:latin typeface="Aptos"/>
              </a:defRPr>
            </a:pPr>
            <a:r>
              <a:t>Quantity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52928" y="2898648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00"/>
              </a:spcAft>
              <a:defRPr sz="1600" b="1">
                <a:solidFill>
                  <a:srgbClr val="7154EF"/>
                </a:solidFill>
                <a:latin typeface="Aptos"/>
              </a:defRPr>
            </a:pPr>
            <a:r>
              <a:rPr sz="1400" b="1">
                <a:solidFill>
                  <a:srgbClr val="1E4CD6"/>
                </a:solidFill>
                <a:latin typeface="Aptos"/>
              </a:rPr>
              <a:t>100 valori mancanti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79776" y="3236976"/>
            <a:ext cx="340156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00"/>
              </a:spcAft>
              <a:defRPr sz="1200" b="0">
                <a:solidFill>
                  <a:srgbClr val="6F7890"/>
                </a:solidFill>
                <a:latin typeface="Aptos"/>
              </a:defRPr>
            </a:pPr>
            <a:r>
              <a:rPr sz="1050">
                <a:solidFill>
                  <a:srgbClr val="59697E"/>
                </a:solidFill>
                <a:latin typeface="Aptos"/>
              </a:rPr>
              <a:t>Sostituiti con mediana (5): nessuna riga eliminata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877056"/>
            <a:ext cx="5349240" cy="850392"/>
          </a:xfrm>
          <a:prstGeom prst="roundRect">
            <a:avLst>
              <a:gd name="adj" fmla="val 9000"/>
            </a:avLst>
          </a:prstGeom>
          <a:solidFill>
            <a:srgbClr val="F5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69848" y="4005072"/>
            <a:ext cx="1965960" cy="30175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100"/>
              </a:spcAft>
              <a:defRPr sz="1600" b="1">
                <a:solidFill>
                  <a:srgbClr val="101936"/>
                </a:solidFill>
                <a:latin typeface="Aptos"/>
              </a:defRPr>
            </a:pPr>
            <a:r>
              <a:t>SalesAmount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52928" y="3995928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00"/>
              </a:spcAft>
              <a:defRPr sz="1600" b="1">
                <a:solidFill>
                  <a:srgbClr val="7154EF"/>
                </a:solidFill>
                <a:latin typeface="Aptos"/>
              </a:defRPr>
            </a:pPr>
            <a:r>
              <a:rPr sz="1400" b="1">
                <a:solidFill>
                  <a:srgbClr val="1E4CD6"/>
                </a:solidFill>
                <a:latin typeface="Aptos"/>
              </a:rPr>
              <a:t>100 valori mancanti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79776" y="4334256"/>
            <a:ext cx="340156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00"/>
              </a:spcAft>
              <a:defRPr sz="1200" b="0">
                <a:solidFill>
                  <a:srgbClr val="6F7890"/>
                </a:solidFill>
                <a:latin typeface="Aptos"/>
              </a:defRPr>
            </a:pPr>
            <a:r>
              <a:rPr sz="1050">
                <a:solidFill>
                  <a:srgbClr val="59697E"/>
                </a:solidFill>
                <a:latin typeface="Aptos"/>
              </a:rPr>
              <a:t>Eliminate 100 transazioni prive di importo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66560" y="1938528"/>
            <a:ext cx="4800600" cy="3319272"/>
          </a:xfrm>
          <a:prstGeom prst="roundRect">
            <a:avLst>
              <a:gd name="adj" fmla="val 9000"/>
            </a:avLst>
          </a:prstGeom>
          <a:solidFill>
            <a:srgbClr val="101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150608" y="3675887"/>
            <a:ext cx="4023360" cy="6126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100"/>
              </a:spcAft>
              <a:defRPr sz="5700" b="1">
                <a:solidFill>
                  <a:srgbClr val="FFFFFF"/>
                </a:solidFill>
                <a:latin typeface="Aptos"/>
              </a:defRPr>
            </a:pPr>
            <a:r>
              <a:rPr sz="4300" b="1">
                <a:solidFill>
                  <a:srgbClr val="77E0B6"/>
                </a:solidFill>
                <a:latin typeface="Aptos"/>
              </a:rPr>
              <a:t>95%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59752" y="4297680"/>
            <a:ext cx="39776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100"/>
              </a:spcAft>
              <a:defRPr sz="1300" b="1">
                <a:solidFill>
                  <a:srgbClr val="AD99FF"/>
                </a:solidFill>
                <a:latin typeface="Aptos"/>
              </a:defRPr>
            </a:pPr>
            <a:r>
              <a:rPr sz="1200" b="1">
                <a:solidFill>
                  <a:srgbClr val="B3C0FB"/>
                </a:solidFill>
                <a:latin typeface="Aptos"/>
              </a:rPr>
              <a:t>DELLE TRANSAZIONI CONSERVATE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59752" y="4663440"/>
            <a:ext cx="3913632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1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rPr sz="1050" b="0">
                <a:solidFill>
                  <a:srgbClr val="FFFFFF"/>
                </a:solidFill>
                <a:latin typeface="Aptos"/>
              </a:rPr>
              <a:t>1.900 transazioni finali, senza valori mancanti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14032" y="2212848"/>
            <a:ext cx="4169663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B3C0FB"/>
                </a:solidFill>
                <a:latin typeface="Aptos"/>
              </a:rPr>
              <a:t>RISULTATO DELLA PULIZIA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04888" y="2633472"/>
            <a:ext cx="411480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2.000    −    100    =    1.900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04888" y="3136392"/>
            <a:ext cx="411480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0">
                <a:solidFill>
                  <a:srgbClr val="CBD3E2"/>
                </a:solidFill>
                <a:latin typeface="Aptos"/>
              </a:rPr>
              <a:t>iniziali         eliminate          finali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alla_pulizia_alla_comprensione_dei_dat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715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8229600" cy="246888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r>
              <a:rPr sz="1100" b="1">
                <a:solidFill>
                  <a:srgbClr val="644BF2"/>
                </a:solidFill>
              </a:rPr>
              <a:t>07 / AGGREGAZIONI · TASK 3B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22376"/>
            <a:ext cx="11018520" cy="49377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100"/>
              </a:spcAft>
              <a:defRPr sz="2900" b="1">
                <a:solidFill>
                  <a:srgbClr val="101936"/>
                </a:solidFill>
                <a:latin typeface="Aptos"/>
              </a:defRPr>
            </a:pPr>
            <a:r>
              <a:t>Outdoor guida il fatturato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307592"/>
            <a:ext cx="1088136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100"/>
              </a:spcAft>
              <a:defRPr sz="1300" b="0">
                <a:solidFill>
                  <a:srgbClr val="6F7890"/>
                </a:solidFill>
                <a:latin typeface="Aptos"/>
              </a:defRPr>
            </a:pPr>
            <a:r>
              <a:t>I dati uniti permettono di confrontare le categorie di prodotto.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6528816"/>
            <a:ext cx="10963656" cy="10972"/>
          </a:xfrm>
          <a:prstGeom prst="rect">
            <a:avLst/>
          </a:prstGeom>
          <a:solidFill>
            <a:srgbClr val="E7E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1792" y="6574536"/>
            <a:ext cx="7315200" cy="20116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100"/>
              </a:spcAft>
              <a:defRPr sz="900" b="0">
                <a:solidFill>
                  <a:srgbClr val="6F7890"/>
                </a:solidFill>
                <a:latin typeface="Aptos"/>
              </a:defRPr>
            </a:pPr>
            <a:r>
              <a:t>EPICODE  •  TOYSGROUP  |  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1672" y="6565392"/>
            <a:ext cx="457200" cy="21031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900"/>
              <a:t>07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" y="1810512"/>
            <a:ext cx="7754112" cy="41148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7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catego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9670" y="2002536"/>
            <a:ext cx="6396643" cy="370332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8604504" y="1810512"/>
            <a:ext cx="2944368" cy="4114800"/>
          </a:xfrm>
          <a:prstGeom prst="roundRect">
            <a:avLst>
              <a:gd name="adj" fmla="val 9000"/>
            </a:avLst>
          </a:prstGeom>
          <a:solidFill>
            <a:srgbClr val="101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860536" y="2404872"/>
            <a:ext cx="2478024" cy="69494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100"/>
              </a:spcAft>
              <a:defRPr sz="3000" b="1">
                <a:solidFill>
                  <a:srgbClr val="FFFFFF"/>
                </a:solidFill>
                <a:latin typeface="Aptos"/>
              </a:defRPr>
            </a:pPr>
            <a:r>
              <a:t>331.998 €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3154680"/>
            <a:ext cx="2368296" cy="28346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100"/>
              </a:spcAft>
              <a:defRPr sz="1400" b="1">
                <a:solidFill>
                  <a:srgbClr val="AD99FF"/>
                </a:solidFill>
                <a:latin typeface="Aptos"/>
              </a:defRPr>
            </a:pPr>
            <a:r>
              <a:t>OUTDOOR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3712463"/>
            <a:ext cx="2377440" cy="5029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100"/>
              </a:spcAft>
              <a:defRPr sz="2800" b="1">
                <a:solidFill>
                  <a:srgbClr val="FFFFFF"/>
                </a:solidFill>
                <a:latin typeface="Aptos"/>
              </a:defRPr>
            </a:pPr>
            <a:r>
              <a:t>59,3%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0" y="4334256"/>
            <a:ext cx="2286000" cy="43891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100"/>
              </a:spcAft>
              <a:defRPr sz="1400" b="0">
                <a:solidFill>
                  <a:srgbClr val="D7DDF3"/>
                </a:solidFill>
                <a:latin typeface="Aptos"/>
              </a:defRPr>
            </a:pPr>
            <a:r>
              <a:t>del fatturato totale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715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8229600" cy="246888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r>
              <a:rPr sz="1100" b="1">
                <a:solidFill>
                  <a:srgbClr val="644BF2"/>
                </a:solidFill>
              </a:rPr>
              <a:t>08 / ANALISI PER REGIONE · TASK 3B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22376"/>
            <a:ext cx="11018520" cy="49377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100"/>
              </a:spcAft>
              <a:defRPr sz="2900" b="1">
                <a:solidFill>
                  <a:srgbClr val="101936"/>
                </a:solidFill>
                <a:latin typeface="Aptos"/>
              </a:defRPr>
            </a:pPr>
            <a:r>
              <a:t>Il Centro Europa è l’area con più ricavi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307592"/>
            <a:ext cx="1088136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100"/>
              </a:spcAft>
              <a:defRPr sz="1300" b="0">
                <a:solidFill>
                  <a:srgbClr val="6F7890"/>
                </a:solidFill>
                <a:latin typeface="Aptos"/>
              </a:defRPr>
            </a:pPr>
            <a:r>
              <a:t>Analisi con merge su RegionID e raggruppamento per SalesRegion.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6528816"/>
            <a:ext cx="10963656" cy="10972"/>
          </a:xfrm>
          <a:prstGeom prst="rect">
            <a:avLst/>
          </a:prstGeom>
          <a:solidFill>
            <a:srgbClr val="E7E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1792" y="6574536"/>
            <a:ext cx="7315200" cy="20116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100"/>
              </a:spcAft>
              <a:defRPr sz="900" b="0">
                <a:solidFill>
                  <a:srgbClr val="6F7890"/>
                </a:solidFill>
                <a:latin typeface="Aptos"/>
              </a:defRPr>
            </a:pPr>
            <a:r>
              <a:t>EPICODE  •  TOYSGROUP  |  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1672" y="6565392"/>
            <a:ext cx="457200" cy="21031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900"/>
              <a:t>08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828800"/>
            <a:ext cx="7827264" cy="40690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7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a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9496" y="2039111"/>
            <a:ext cx="5966718" cy="3593592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8668512" y="1828800"/>
            <a:ext cx="2898648" cy="4069080"/>
          </a:xfrm>
          <a:prstGeom prst="roundRect">
            <a:avLst>
              <a:gd name="adj" fmla="val 9000"/>
            </a:avLst>
          </a:prstGeom>
          <a:solidFill>
            <a:srgbClr val="EE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887968" y="2057400"/>
            <a:ext cx="2532888" cy="23774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100"/>
              </a:spcAft>
              <a:defRPr sz="1000" b="1">
                <a:solidFill>
                  <a:srgbClr val="7154EF"/>
                </a:solidFill>
                <a:latin typeface="Aptos"/>
              </a:defRPr>
            </a:pPr>
            <a:r>
              <a:t>DA RICORDARE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87968" y="2496312"/>
            <a:ext cx="2468880" cy="31546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100"/>
              </a:spcAft>
              <a:defRPr sz="1800" b="0">
                <a:solidFill>
                  <a:srgbClr val="101936"/>
                </a:solidFill>
                <a:latin typeface="Aptos"/>
              </a:defRPr>
            </a:pPr>
            <a:r>
              <a:t>Centro Europa: circa 201 mila euro.</a:t>
            </a:r>
          </a:p>
          <a:p>
            <a:pPr algn="l">
              <a:spcAft>
                <a:spcPts val="100"/>
              </a:spcAft>
              <a:defRPr sz="1800" b="0">
                <a:solidFill>
                  <a:srgbClr val="101936"/>
                </a:solidFill>
                <a:latin typeface="Aptos"/>
              </a:defRPr>
            </a:pPr>
            <a:endParaRPr/>
          </a:p>
          <a:p>
            <a:pPr algn="l">
              <a:spcAft>
                <a:spcPts val="100"/>
              </a:spcAft>
              <a:defRPr sz="1800" b="0">
                <a:solidFill>
                  <a:srgbClr val="101936"/>
                </a:solidFill>
                <a:latin typeface="Aptos"/>
              </a:defRPr>
            </a:pPr>
            <a:r>
              <a:t>Il fatturato è comunque distribuito su tutte e tre le macroaree.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715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8229600" cy="246888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r>
              <a:rPr sz="1100" b="1">
                <a:solidFill>
                  <a:srgbClr val="644BF2"/>
                </a:solidFill>
              </a:rPr>
              <a:t>09 / SERIE TEMPORALI · TASK 3C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22376"/>
            <a:ext cx="11018520" cy="49377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100"/>
              </a:spcAft>
              <a:defRPr sz="2900" b="1">
                <a:solidFill>
                  <a:srgbClr val="101936"/>
                </a:solidFill>
                <a:latin typeface="Aptos"/>
              </a:defRPr>
            </a:pPr>
            <a:r>
              <a:t>36 mesi di vendite: il picco è maggio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307592"/>
            <a:ext cx="1088136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100"/>
              </a:spcAft>
              <a:defRPr sz="1300" b="0">
                <a:solidFill>
                  <a:srgbClr val="6F7890"/>
                </a:solidFill>
                <a:latin typeface="Aptos"/>
              </a:defRPr>
            </a:pPr>
            <a:r>
              <a:t>SalesDate convertita in data, aggregazione mensile e variazione rispetto al mese prima.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6528816"/>
            <a:ext cx="10963656" cy="10972"/>
          </a:xfrm>
          <a:prstGeom prst="rect">
            <a:avLst/>
          </a:prstGeom>
          <a:solidFill>
            <a:srgbClr val="E7E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1792" y="6574536"/>
            <a:ext cx="7315200" cy="20116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100"/>
              </a:spcAft>
              <a:defRPr sz="900" b="0">
                <a:solidFill>
                  <a:srgbClr val="6F7890"/>
                </a:solidFill>
                <a:latin typeface="Aptos"/>
              </a:defRPr>
            </a:pPr>
            <a:r>
              <a:t>EPICODE  •  TOYSGROUP  |  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1672" y="6565392"/>
            <a:ext cx="457200" cy="21031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900"/>
              <a:t>09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764792"/>
            <a:ext cx="10954512" cy="42153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7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tempora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5447" y="1965960"/>
            <a:ext cx="9078057" cy="377647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715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8229600" cy="246888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r>
              <a:rPr sz="1100" b="1">
                <a:solidFill>
                  <a:srgbClr val="644BF2"/>
                </a:solidFill>
              </a:rPr>
              <a:t>10 / VISUALIZZAZIONE · TASK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22376"/>
            <a:ext cx="11018520" cy="49377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100"/>
              </a:spcAft>
              <a:defRPr sz="2900" b="1">
                <a:solidFill>
                  <a:srgbClr val="101936"/>
                </a:solidFill>
                <a:latin typeface="Aptos"/>
              </a:defRPr>
            </a:pPr>
            <a:r>
              <a:t>Le singole vendite hanno importi molto diversi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307592"/>
            <a:ext cx="1088136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100"/>
              </a:spcAft>
              <a:defRPr sz="1300" b="0">
                <a:solidFill>
                  <a:srgbClr val="6F7890"/>
                </a:solidFill>
                <a:latin typeface="Aptos"/>
              </a:defRPr>
            </a:pPr>
            <a:r>
              <a:t>Il boxplot mostra valori centrali, dispersione e possibili valori estremi.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6528816"/>
            <a:ext cx="10963656" cy="10972"/>
          </a:xfrm>
          <a:prstGeom prst="rect">
            <a:avLst/>
          </a:prstGeom>
          <a:solidFill>
            <a:srgbClr val="E7E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1792" y="6574536"/>
            <a:ext cx="7315200" cy="20116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100"/>
              </a:spcAft>
              <a:defRPr sz="900" b="0">
                <a:solidFill>
                  <a:srgbClr val="6F7890"/>
                </a:solidFill>
                <a:latin typeface="Aptos"/>
              </a:defRPr>
            </a:pPr>
            <a:r>
              <a:t>EPICODE  •  TOYSGROUP  |  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1672" y="6565392"/>
            <a:ext cx="457200" cy="21031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900"/>
              <a:t>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874519"/>
            <a:ext cx="7680960" cy="4005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7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box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" y="2042298"/>
            <a:ext cx="7333488" cy="363293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8549640" y="1874519"/>
            <a:ext cx="3017520" cy="4005072"/>
          </a:xfrm>
          <a:prstGeom prst="roundRect">
            <a:avLst>
              <a:gd name="adj" fmla="val 9000"/>
            </a:avLst>
          </a:prstGeom>
          <a:solidFill>
            <a:srgbClr val="EE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769096" y="2139696"/>
            <a:ext cx="2578608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100"/>
              </a:spcAft>
              <a:defRPr sz="1100" b="1">
                <a:solidFill>
                  <a:srgbClr val="7154EF"/>
                </a:solidFill>
                <a:latin typeface="Aptos"/>
              </a:defRPr>
            </a:pPr>
            <a:r>
              <a:t>MEDIANE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50808" y="2596896"/>
            <a:ext cx="2606040" cy="30175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100"/>
              </a:spcAft>
              <a:defRPr sz="1500" b="1">
                <a:solidFill>
                  <a:srgbClr val="101936"/>
                </a:solidFill>
                <a:latin typeface="Aptos"/>
              </a:defRPr>
            </a:pPr>
            <a:r>
              <a:t>Outdoor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50808" y="2962656"/>
            <a:ext cx="2569464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100"/>
              </a:spcAft>
              <a:defRPr sz="1700" b="1">
                <a:solidFill>
                  <a:srgbClr val="7154EF"/>
                </a:solidFill>
                <a:latin typeface="Aptos"/>
              </a:defRPr>
            </a:pPr>
            <a:r>
              <a:t>316,0 €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50808" y="3511296"/>
            <a:ext cx="2606040" cy="30175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100"/>
              </a:spcAft>
              <a:defRPr sz="1500" b="1">
                <a:solidFill>
                  <a:srgbClr val="101936"/>
                </a:solidFill>
                <a:latin typeface="Aptos"/>
              </a:defRPr>
            </a:pPr>
            <a:r>
              <a:t>Giocattoli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50808" y="3877056"/>
            <a:ext cx="2569464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100"/>
              </a:spcAft>
              <a:defRPr sz="1700" b="1">
                <a:solidFill>
                  <a:srgbClr val="7154EF"/>
                </a:solidFill>
                <a:latin typeface="Aptos"/>
              </a:defRPr>
            </a:pPr>
            <a:r>
              <a:t>236,0 €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50808" y="4425696"/>
            <a:ext cx="2606040" cy="30175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100"/>
              </a:spcAft>
              <a:defRPr sz="1500" b="1">
                <a:solidFill>
                  <a:srgbClr val="101936"/>
                </a:solidFill>
                <a:latin typeface="Aptos"/>
              </a:defRPr>
            </a:pPr>
            <a:r>
              <a:t>Giochi da tavolo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50808" y="4791456"/>
            <a:ext cx="2569464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100"/>
              </a:spcAft>
              <a:defRPr sz="1700" b="1">
                <a:solidFill>
                  <a:srgbClr val="7154EF"/>
                </a:solidFill>
                <a:latin typeface="Aptos"/>
              </a:defRPr>
            </a:pPr>
            <a:r>
              <a:t>89,5 €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715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8229600" cy="246888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r>
              <a:rPr sz="1100" b="1">
                <a:solidFill>
                  <a:srgbClr val="644BF2"/>
                </a:solidFill>
              </a:rPr>
              <a:t>11 / CORRELAZIONI · TASK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22376"/>
            <a:ext cx="11018520" cy="49377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100"/>
              </a:spcAft>
              <a:defRPr sz="2900" b="1">
                <a:solidFill>
                  <a:srgbClr val="101936"/>
                </a:solidFill>
                <a:latin typeface="Aptos"/>
              </a:defRPr>
            </a:pPr>
            <a:r>
              <a:t>Le abitudini dei rivenditori sono correlate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307592"/>
            <a:ext cx="1088136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100"/>
              </a:spcAft>
              <a:defRPr sz="1300" b="0">
                <a:solidFill>
                  <a:srgbClr val="6F7890"/>
                </a:solidFill>
                <a:latin typeface="Aptos"/>
              </a:defRPr>
            </a:pPr>
            <a:r>
              <a:t>Una correlazione misura l’associazione: non dimostra un rapporto causa-effetto.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6528816"/>
            <a:ext cx="10963656" cy="10972"/>
          </a:xfrm>
          <a:prstGeom prst="rect">
            <a:avLst/>
          </a:prstGeom>
          <a:solidFill>
            <a:srgbClr val="E7E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1792" y="6574536"/>
            <a:ext cx="7315200" cy="20116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100"/>
              </a:spcAft>
              <a:defRPr sz="900" b="0">
                <a:solidFill>
                  <a:srgbClr val="6F7890"/>
                </a:solidFill>
                <a:latin typeface="Aptos"/>
              </a:defRPr>
            </a:pPr>
            <a:r>
              <a:t>EPICODE  •  TOYSGROUP  |  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1672" y="6565392"/>
            <a:ext cx="457200" cy="21031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900"/>
              <a:t>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828800"/>
            <a:ext cx="6647688" cy="41148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7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correlazion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1286" y="1920240"/>
            <a:ext cx="5490411" cy="3877056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534656" y="1828800"/>
            <a:ext cx="4023360" cy="41148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7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18120" y="2322576"/>
            <a:ext cx="3410712" cy="8229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100"/>
              </a:spcAft>
              <a:defRPr sz="4100" b="1">
                <a:solidFill>
                  <a:srgbClr val="7154EF"/>
                </a:solidFill>
                <a:latin typeface="Aptos"/>
              </a:defRPr>
            </a:pPr>
            <a:r>
              <a:t>−0,78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27264" y="3136392"/>
            <a:ext cx="3300984" cy="7955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100"/>
              </a:spcAft>
              <a:defRPr sz="1700" b="1">
                <a:solidFill>
                  <a:srgbClr val="101936"/>
                </a:solidFill>
                <a:latin typeface="Aptos"/>
              </a:defRPr>
            </a:pPr>
            <a:r>
              <a:t>Ordini 12 mesi  ↔  Giorni dall’ultimo ordine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27264" y="4206240"/>
            <a:ext cx="3273552" cy="11887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100"/>
              </a:spcAft>
              <a:defRPr sz="1400" b="0">
                <a:solidFill>
                  <a:srgbClr val="6F7890"/>
                </a:solidFill>
                <a:latin typeface="Aptos"/>
              </a:defRPr>
            </a:pPr>
            <a:r>
              <a:t>Chi ordina più spesso tende ad avere un ultimo ordine più recente. Il churn cresce con i giorni dall’ultimo ordine (r ≈ 0,43).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alla_comprensione_alla_previsi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715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8229600" cy="246888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r>
              <a:rPr sz="1100" b="1">
                <a:solidFill>
                  <a:srgbClr val="644BF2"/>
                </a:solidFill>
              </a:rPr>
              <a:t>13 / REGRESSIONE LINEARE · TASK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22376"/>
            <a:ext cx="11018520" cy="49377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100"/>
              </a:spcAft>
              <a:defRPr sz="2900" b="1">
                <a:solidFill>
                  <a:srgbClr val="101936"/>
                </a:solidFill>
                <a:latin typeface="Aptos"/>
              </a:defRPr>
            </a:pPr>
            <a:r>
              <a:t>Prevedere il fatturato: il modello è ancora debole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307592"/>
            <a:ext cx="1088136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100"/>
              </a:spcAft>
              <a:defRPr sz="1300" b="0">
                <a:solidFill>
                  <a:srgbClr val="6F7890"/>
                </a:solidFill>
                <a:latin typeface="Aptos"/>
              </a:defRPr>
            </a:pPr>
            <a:r>
              <a:t>Confronto tra regressione semplice e multipla: R² misurato sui dati di test.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6528816"/>
            <a:ext cx="10963656" cy="10972"/>
          </a:xfrm>
          <a:prstGeom prst="rect">
            <a:avLst/>
          </a:prstGeom>
          <a:solidFill>
            <a:srgbClr val="E7E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1792" y="6574536"/>
            <a:ext cx="7315200" cy="20116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100"/>
              </a:spcAft>
              <a:defRPr sz="900" b="0">
                <a:solidFill>
                  <a:srgbClr val="6F7890"/>
                </a:solidFill>
                <a:latin typeface="Aptos"/>
              </a:defRPr>
            </a:pPr>
            <a:r>
              <a:t>EPICODE  •  TOYSGROUP  |  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1672" y="6565392"/>
            <a:ext cx="457200" cy="21031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900"/>
              <a:t>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" y="1938528"/>
            <a:ext cx="5367528" cy="235000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7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6112" y="2212848"/>
            <a:ext cx="4261104" cy="35661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100"/>
              </a:spcAft>
              <a:defRPr sz="1800" b="1">
                <a:solidFill>
                  <a:srgbClr val="101936"/>
                </a:solidFill>
                <a:latin typeface="Aptos"/>
              </a:defRPr>
            </a:pPr>
            <a:r>
              <a:t>Semplice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862072"/>
            <a:ext cx="4407408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100"/>
              </a:spcAft>
              <a:defRPr sz="1600" b="0">
                <a:solidFill>
                  <a:srgbClr val="6F7890"/>
                </a:solidFill>
                <a:latin typeface="Aptos"/>
              </a:defRPr>
            </a:pPr>
            <a:r>
              <a:t>R² train  0,48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3319272"/>
            <a:ext cx="4608576" cy="521207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100"/>
              </a:spcAft>
              <a:defRPr sz="2600" b="1">
                <a:solidFill>
                  <a:srgbClr val="E2864E"/>
                </a:solidFill>
                <a:latin typeface="Aptos"/>
              </a:defRPr>
            </a:pPr>
            <a:r>
              <a:t>R² test  -1,88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938528"/>
            <a:ext cx="5367528" cy="235000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7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46520" y="2212848"/>
            <a:ext cx="4261104" cy="35661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100"/>
              </a:spcAft>
              <a:defRPr sz="1800" b="1">
                <a:solidFill>
                  <a:srgbClr val="101936"/>
                </a:solidFill>
                <a:latin typeface="Aptos"/>
              </a:defRPr>
            </a:pPr>
            <a:r>
              <a:t>Multipla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862072"/>
            <a:ext cx="4407408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100"/>
              </a:spcAft>
              <a:defRPr sz="1600" b="0">
                <a:solidFill>
                  <a:srgbClr val="6F7890"/>
                </a:solidFill>
                <a:latin typeface="Aptos"/>
              </a:defRPr>
            </a:pPr>
            <a:r>
              <a:t>R² train  0,84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3319272"/>
            <a:ext cx="4608576" cy="521207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100"/>
              </a:spcAft>
              <a:defRPr sz="2600" b="1">
                <a:solidFill>
                  <a:srgbClr val="E2864E"/>
                </a:solidFill>
                <a:latin typeface="Aptos"/>
              </a:defRPr>
            </a:pPr>
            <a:r>
              <a:t>R² test  -0,41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" y="4599432"/>
            <a:ext cx="10927080" cy="1078992"/>
          </a:xfrm>
          <a:prstGeom prst="roundRect">
            <a:avLst>
              <a:gd name="adj" fmla="val 9000"/>
            </a:avLst>
          </a:prstGeom>
          <a:solidFill>
            <a:srgbClr val="EE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77824" y="4809744"/>
            <a:ext cx="1828800" cy="29260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100"/>
              </a:spcAft>
              <a:defRPr sz="1000" b="1">
                <a:solidFill>
                  <a:srgbClr val="7154EF"/>
                </a:solidFill>
                <a:latin typeface="Aptos"/>
              </a:defRPr>
            </a:pPr>
            <a:r>
              <a:t>LETTURA CORRETTA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06624" y="4791456"/>
            <a:ext cx="8412480" cy="62179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100"/>
              </a:spcAft>
              <a:defRPr sz="1600" b="0">
                <a:solidFill>
                  <a:srgbClr val="101936"/>
                </a:solidFill>
                <a:latin typeface="Aptos"/>
              </a:defRPr>
            </a:pPr>
            <a:r>
              <a:t>R² negativo significa prestazioni peggiori della previsione della media. Le stime 2026 sono solo indicative.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715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8229600" cy="246888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r>
              <a:rPr sz="1100" b="1">
                <a:solidFill>
                  <a:srgbClr val="644BF2"/>
                </a:solidFill>
              </a:rPr>
              <a:t>14 / CLASSIFICAZIONE CHURN · TASK 6A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22376"/>
            <a:ext cx="11018520" cy="49377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100"/>
              </a:spcAft>
              <a:defRPr sz="2900" b="1">
                <a:solidFill>
                  <a:srgbClr val="101936"/>
                </a:solidFill>
                <a:latin typeface="Aptos"/>
              </a:defRPr>
            </a:pPr>
            <a:r>
              <a:t>Churn: il Recall migliora abbassando la soglia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307592"/>
            <a:ext cx="1088136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100"/>
              </a:spcAft>
              <a:defRPr sz="1300" b="0">
                <a:solidFill>
                  <a:srgbClr val="6F7890"/>
                </a:solidFill>
                <a:latin typeface="Aptos"/>
              </a:defRPr>
            </a:pPr>
            <a:r>
              <a:t>Regressione logistica: riconoscere chi potrebbe smettere di ordinare.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6528816"/>
            <a:ext cx="10963656" cy="10972"/>
          </a:xfrm>
          <a:prstGeom prst="rect">
            <a:avLst/>
          </a:prstGeom>
          <a:solidFill>
            <a:srgbClr val="E7E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1792" y="6574536"/>
            <a:ext cx="7315200" cy="20116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100"/>
              </a:spcAft>
              <a:defRPr sz="900" b="0">
                <a:solidFill>
                  <a:srgbClr val="6F7890"/>
                </a:solidFill>
                <a:latin typeface="Aptos"/>
              </a:defRPr>
            </a:pPr>
            <a:r>
              <a:t>EPICODE  •  TOYSGROUP  |  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1672" y="6565392"/>
            <a:ext cx="457200" cy="21031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900"/>
              <a:t>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856231"/>
            <a:ext cx="6428232" cy="409651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7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176272"/>
            <a:ext cx="4855464" cy="26517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100"/>
              </a:spcAft>
              <a:defRPr sz="1100" b="1">
                <a:solidFill>
                  <a:srgbClr val="7154EF"/>
                </a:solidFill>
                <a:latin typeface="Aptos"/>
              </a:defRPr>
            </a:pPr>
            <a:r>
              <a:t>RECALL SUL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2788920"/>
            <a:ext cx="1554480" cy="29260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100"/>
              </a:spcAft>
              <a:defRPr sz="1400" b="1">
                <a:solidFill>
                  <a:srgbClr val="101936"/>
                </a:solidFill>
                <a:latin typeface="Aptos"/>
              </a:defRPr>
            </a:pPr>
            <a:r>
              <a:t>Soglia 0,5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42616" y="2798063"/>
            <a:ext cx="3035808" cy="274320"/>
          </a:xfrm>
          <a:prstGeom prst="roundRect">
            <a:avLst>
              <a:gd name="adj" fmla="val 9000"/>
            </a:avLst>
          </a:prstGeom>
          <a:solidFill>
            <a:srgbClr val="E7E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2642616" y="2798063"/>
            <a:ext cx="868241" cy="274320"/>
          </a:xfrm>
          <a:prstGeom prst="roundRect">
            <a:avLst>
              <a:gd name="adj" fmla="val 9000"/>
            </a:avLst>
          </a:prstGeom>
          <a:solidFill>
            <a:srgbClr val="AEB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705856" y="2752344"/>
            <a:ext cx="1060704" cy="40233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100"/>
              </a:spcAft>
              <a:defRPr sz="2000" b="1">
                <a:solidFill>
                  <a:srgbClr val="AEB6C9"/>
                </a:solidFill>
                <a:latin typeface="Aptos"/>
              </a:defRPr>
            </a:pPr>
            <a:r>
              <a:t>28,6%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" y="4032504"/>
            <a:ext cx="1554480" cy="29260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100"/>
              </a:spcAft>
              <a:defRPr sz="1400" b="1">
                <a:solidFill>
                  <a:srgbClr val="101936"/>
                </a:solidFill>
                <a:latin typeface="Aptos"/>
              </a:defRPr>
            </a:pPr>
            <a:r>
              <a:t>Soglia 0,3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642616" y="4041648"/>
            <a:ext cx="3035808" cy="274320"/>
          </a:xfrm>
          <a:prstGeom prst="roundRect">
            <a:avLst>
              <a:gd name="adj" fmla="val 9000"/>
            </a:avLst>
          </a:prstGeom>
          <a:solidFill>
            <a:srgbClr val="E7E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2642616" y="4041648"/>
            <a:ext cx="2167566" cy="274320"/>
          </a:xfrm>
          <a:prstGeom prst="roundRect">
            <a:avLst>
              <a:gd name="adj" fmla="val 9000"/>
            </a:avLst>
          </a:prstGeom>
          <a:solidFill>
            <a:srgbClr val="715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705856" y="3995928"/>
            <a:ext cx="1060704" cy="40233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100"/>
              </a:spcAft>
              <a:defRPr sz="2000" b="1">
                <a:solidFill>
                  <a:srgbClr val="7154EF"/>
                </a:solidFill>
                <a:latin typeface="Aptos"/>
              </a:defRPr>
            </a:pPr>
            <a:r>
              <a:t>71,4%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87768" y="1856231"/>
            <a:ext cx="4261104" cy="4096512"/>
          </a:xfrm>
          <a:prstGeom prst="roundRect">
            <a:avLst>
              <a:gd name="adj" fmla="val 9000"/>
            </a:avLst>
          </a:prstGeom>
          <a:solidFill>
            <a:srgbClr val="101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653527" y="2478024"/>
            <a:ext cx="3364992" cy="67665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100"/>
              </a:spcAft>
              <a:defRPr sz="3700" b="1">
                <a:solidFill>
                  <a:srgbClr val="FFFFFF"/>
                </a:solidFill>
                <a:latin typeface="Aptos"/>
              </a:defRPr>
            </a:pPr>
            <a:r>
              <a:t>10 →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71816" y="3191256"/>
            <a:ext cx="3410712" cy="26517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100"/>
              </a:spcAft>
              <a:defRPr sz="1300" b="1">
                <a:solidFill>
                  <a:srgbClr val="AD99FF"/>
                </a:solidFill>
                <a:latin typeface="Aptos"/>
              </a:defRPr>
            </a:pPr>
            <a:r>
              <a:t>FALSI NEGATIVI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71816" y="3767328"/>
            <a:ext cx="3401568" cy="16276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1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I rivenditori a rischio non individuati diminuiscono.</a:t>
            </a:r>
          </a:p>
          <a:p>
            <a:pPr algn="l">
              <a:spcAft>
                <a:spcPts val="1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endParaRPr/>
          </a:p>
          <a:p>
            <a:pPr algn="l">
              <a:spcAft>
                <a:spcPts val="1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Accuracy: 76,7% in entrambi i casi, uguale alla baseline.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715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8229600" cy="246888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r>
              <a:rPr sz="1100" b="1">
                <a:solidFill>
                  <a:srgbClr val="644BF2"/>
                </a:solidFill>
              </a:rPr>
              <a:t>15 / CLUSTERING K-MEANS · TASK 6B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22376"/>
            <a:ext cx="11018520" cy="49377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100"/>
              </a:spcAft>
              <a:defRPr sz="2900" b="1">
                <a:solidFill>
                  <a:srgbClr val="101936"/>
                </a:solidFill>
                <a:latin typeface="Aptos"/>
              </a:defRPr>
            </a:pPr>
            <a:r>
              <a:t>Tre gruppi di rivenditori: uno richiede attenzione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307592"/>
            <a:ext cx="1088136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100"/>
              </a:spcAft>
              <a:defRPr sz="1300" b="0">
                <a:solidFill>
                  <a:srgbClr val="6F7890"/>
                </a:solidFill>
                <a:latin typeface="Aptos"/>
              </a:defRPr>
            </a:pPr>
            <a:r>
              <a:t>K-Means usa ordini, giorni dall’ultimo ordine e fatturato; non usa Churn per creare i gruppi.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6528816"/>
            <a:ext cx="10963656" cy="10972"/>
          </a:xfrm>
          <a:prstGeom prst="rect">
            <a:avLst/>
          </a:prstGeom>
          <a:solidFill>
            <a:srgbClr val="E7E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1792" y="6574536"/>
            <a:ext cx="7315200" cy="20116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100"/>
              </a:spcAft>
              <a:defRPr sz="900" b="0">
                <a:solidFill>
                  <a:srgbClr val="6F7890"/>
                </a:solidFill>
                <a:latin typeface="Aptos"/>
              </a:defRPr>
            </a:pPr>
            <a:r>
              <a:t>EPICODE  •  TOYSGROUP  |  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1672" y="6565392"/>
            <a:ext cx="457200" cy="21031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900"/>
              <a:t>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" y="2029968"/>
            <a:ext cx="3438144" cy="334670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7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50392" y="2286000"/>
            <a:ext cx="457200" cy="59436"/>
          </a:xfrm>
          <a:prstGeom prst="rect">
            <a:avLst/>
          </a:prstGeom>
          <a:solidFill>
            <a:srgbClr val="7C7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0392" y="2587752"/>
            <a:ext cx="3072384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100"/>
              </a:spcAft>
              <a:defRPr sz="1700" b="1">
                <a:solidFill>
                  <a:srgbClr val="101936"/>
                </a:solidFill>
                <a:latin typeface="Aptos"/>
              </a:defRPr>
            </a:pPr>
            <a:r>
              <a:t>Alto fatturato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3191256"/>
            <a:ext cx="1828800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100"/>
              </a:spcAft>
              <a:defRPr sz="3200" b="1">
                <a:solidFill>
                  <a:srgbClr val="101936"/>
                </a:solidFill>
                <a:latin typeface="Aptos"/>
              </a:defRPr>
            </a:pPr>
            <a:r>
              <a:t>68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" y="3749039"/>
            <a:ext cx="2706624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100"/>
              </a:spcAft>
              <a:defRPr sz="1300" b="0">
                <a:solidFill>
                  <a:srgbClr val="6F7890"/>
                </a:solidFill>
                <a:latin typeface="Aptos"/>
              </a:defRPr>
            </a:pPr>
            <a:r>
              <a:t>rivenditori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" y="4224528"/>
            <a:ext cx="2496312" cy="53949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100"/>
              </a:spcAft>
              <a:defRPr sz="2500" b="1">
                <a:solidFill>
                  <a:srgbClr val="7C72D9"/>
                </a:solidFill>
                <a:latin typeface="Aptos"/>
              </a:defRPr>
            </a:pPr>
            <a:r>
              <a:t>10,3%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" y="4782312"/>
            <a:ext cx="2551176" cy="26517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100"/>
              </a:spcAft>
              <a:defRPr sz="1300" b="0">
                <a:solidFill>
                  <a:srgbClr val="6F7890"/>
                </a:solidFill>
                <a:latin typeface="Aptos"/>
              </a:defRPr>
            </a:pPr>
            <a:r>
              <a:t>quota di churn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25112" y="2029968"/>
            <a:ext cx="3438144" cy="334670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7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544568" y="2286000"/>
            <a:ext cx="457200" cy="59436"/>
          </a:xfrm>
          <a:prstGeom prst="rect">
            <a:avLst/>
          </a:prstGeom>
          <a:solidFill>
            <a:srgbClr val="63B7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44568" y="2587752"/>
            <a:ext cx="3072384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100"/>
              </a:spcAft>
              <a:defRPr sz="1700" b="1">
                <a:solidFill>
                  <a:srgbClr val="101936"/>
                </a:solidFill>
                <a:latin typeface="Aptos"/>
              </a:defRPr>
            </a:pPr>
            <a:r>
              <a:t>Medio fatturato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44568" y="3191256"/>
            <a:ext cx="1828800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100"/>
              </a:spcAft>
              <a:defRPr sz="3200" b="1">
                <a:solidFill>
                  <a:srgbClr val="101936"/>
                </a:solidFill>
                <a:latin typeface="Aptos"/>
              </a:defRPr>
            </a:pPr>
            <a:r>
              <a:t>95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4568" y="3749039"/>
            <a:ext cx="2706624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100"/>
              </a:spcAft>
              <a:defRPr sz="1300" b="0">
                <a:solidFill>
                  <a:srgbClr val="6F7890"/>
                </a:solidFill>
                <a:latin typeface="Aptos"/>
              </a:defRPr>
            </a:pPr>
            <a:r>
              <a:t>rivenditori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44568" y="4224528"/>
            <a:ext cx="2496312" cy="53949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100"/>
              </a:spcAft>
              <a:defRPr sz="2500" b="1">
                <a:solidFill>
                  <a:srgbClr val="63B7BB"/>
                </a:solidFill>
                <a:latin typeface="Aptos"/>
              </a:defRPr>
            </a:pPr>
            <a:r>
              <a:t>10,5%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53712" y="4782312"/>
            <a:ext cx="2551176" cy="26517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100"/>
              </a:spcAft>
              <a:defRPr sz="1300" b="0">
                <a:solidFill>
                  <a:srgbClr val="6F7890"/>
                </a:solidFill>
                <a:latin typeface="Aptos"/>
              </a:defRPr>
            </a:pPr>
            <a:r>
              <a:t>quota di churn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19288" y="2029968"/>
            <a:ext cx="3438144" cy="334670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7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238744" y="2286000"/>
            <a:ext cx="457200" cy="59436"/>
          </a:xfrm>
          <a:prstGeom prst="rect">
            <a:avLst/>
          </a:prstGeom>
          <a:solidFill>
            <a:srgbClr val="E28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38744" y="2587752"/>
            <a:ext cx="3072384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100"/>
              </a:spcAft>
              <a:defRPr sz="1700" b="1">
                <a:solidFill>
                  <a:srgbClr val="101936"/>
                </a:solidFill>
                <a:latin typeface="Aptos"/>
              </a:defRPr>
            </a:pPr>
            <a:r>
              <a:t>Basso fatturato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38744" y="3191256"/>
            <a:ext cx="1828800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100"/>
              </a:spcAft>
              <a:defRPr sz="3200" b="1">
                <a:solidFill>
                  <a:srgbClr val="101936"/>
                </a:solidFill>
                <a:latin typeface="Aptos"/>
              </a:defRPr>
            </a:pPr>
            <a:r>
              <a:t>137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38744" y="3749039"/>
            <a:ext cx="2706624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100"/>
              </a:spcAft>
              <a:defRPr sz="1300" b="0">
                <a:solidFill>
                  <a:srgbClr val="6F7890"/>
                </a:solidFill>
                <a:latin typeface="Aptos"/>
              </a:defRPr>
            </a:pPr>
            <a:r>
              <a:t>rivenditori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38744" y="4224528"/>
            <a:ext cx="2496312" cy="53949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100"/>
              </a:spcAft>
              <a:defRPr sz="2500" b="1">
                <a:solidFill>
                  <a:srgbClr val="E2864E"/>
                </a:solidFill>
                <a:latin typeface="Aptos"/>
              </a:defRPr>
            </a:pPr>
            <a:r>
              <a:t>39,4%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47888" y="4782312"/>
            <a:ext cx="2551176" cy="26517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100"/>
              </a:spcAft>
              <a:defRPr sz="1300" b="0">
                <a:solidFill>
                  <a:srgbClr val="6F7890"/>
                </a:solidFill>
                <a:latin typeface="Aptos"/>
              </a:defRPr>
            </a:pPr>
            <a:r>
              <a:t>quota di churn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5623560"/>
            <a:ext cx="10908792" cy="493776"/>
          </a:xfrm>
          <a:prstGeom prst="roundRect">
            <a:avLst>
              <a:gd name="adj" fmla="val 9000"/>
            </a:avLst>
          </a:prstGeom>
          <a:solidFill>
            <a:srgbClr val="EE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41248" y="5751576"/>
            <a:ext cx="10360152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100"/>
              </a:spcAft>
              <a:defRPr sz="1500" b="1">
                <a:solidFill>
                  <a:srgbClr val="101936"/>
                </a:solidFill>
                <a:latin typeface="Aptos"/>
              </a:defRPr>
            </a:pPr>
            <a:r>
              <a:t>Priorità di retention: analizzare prima il segmento a basso fatturato (churn 39,4%).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715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8229600" cy="246888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r>
              <a:rPr sz="1100" b="1">
                <a:solidFill>
                  <a:srgbClr val="644BF2"/>
                </a:solidFill>
              </a:rPr>
              <a:t>16 / DEBUGGING · TASK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22376"/>
            <a:ext cx="11018520" cy="49377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100"/>
              </a:spcAft>
              <a:defRPr sz="2900" b="1">
                <a:solidFill>
                  <a:srgbClr val="101936"/>
                </a:solidFill>
                <a:latin typeface="Aptos"/>
              </a:defRPr>
            </a:pPr>
            <a:r>
              <a:t>Debugging e tracciabilità del progetto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307592"/>
            <a:ext cx="1088136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100"/>
              </a:spcAft>
              <a:defRPr sz="1300" b="0">
                <a:solidFill>
                  <a:srgbClr val="6F7890"/>
                </a:solidFill>
                <a:latin typeface="Aptos"/>
              </a:defRPr>
            </a:pPr>
            <a:r>
              <a:t>Il Task 7 non riguarda nuove previsioni: rende il codice corretto, leggibile e riproducibile.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6528816"/>
            <a:ext cx="10963656" cy="10972"/>
          </a:xfrm>
          <a:prstGeom prst="rect">
            <a:avLst/>
          </a:prstGeom>
          <a:solidFill>
            <a:srgbClr val="E7E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1792" y="6574536"/>
            <a:ext cx="7315200" cy="20116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100"/>
              </a:spcAft>
              <a:defRPr sz="900" b="0">
                <a:solidFill>
                  <a:srgbClr val="6F7890"/>
                </a:solidFill>
                <a:latin typeface="Aptos"/>
              </a:defRPr>
            </a:pPr>
            <a:r>
              <a:t>EPICODE  •  TOYSGROUP  |  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1672" y="6565392"/>
            <a:ext cx="457200" cy="21031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900"/>
              <a:t>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984248"/>
            <a:ext cx="5285232" cy="136245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7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32103" y="2240280"/>
            <a:ext cx="475488" cy="475488"/>
          </a:xfrm>
          <a:prstGeom prst="roundRect">
            <a:avLst>
              <a:gd name="adj" fmla="val 9000"/>
            </a:avLst>
          </a:prstGeom>
          <a:solidFill>
            <a:srgbClr val="715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9536" y="2340864"/>
            <a:ext cx="411480" cy="21031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Aft>
                <a:spcPts val="1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81328" y="2194560"/>
            <a:ext cx="4187952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100"/>
              </a:spcAft>
              <a:defRPr sz="1700" b="1">
                <a:solidFill>
                  <a:srgbClr val="101936"/>
                </a:solidFill>
                <a:latin typeface="Aptos"/>
              </a:defRPr>
            </a:pPr>
            <a:r>
              <a:t>Media con NaN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1328" y="2706624"/>
            <a:ext cx="4197096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100"/>
              </a:spcAft>
              <a:defRPr sz="1300" b="0">
                <a:solidFill>
                  <a:srgbClr val="6F7890"/>
                </a:solidFill>
                <a:latin typeface="Aptos"/>
              </a:defRPr>
            </a:pPr>
            <a:r>
              <a:t>Usare valori validi per il calcolo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984248"/>
            <a:ext cx="5285232" cy="136245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7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373368" y="2240280"/>
            <a:ext cx="475488" cy="475488"/>
          </a:xfrm>
          <a:prstGeom prst="roundRect">
            <a:avLst>
              <a:gd name="adj" fmla="val 9000"/>
            </a:avLst>
          </a:prstGeom>
          <a:solidFill>
            <a:srgbClr val="715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0" y="2340864"/>
            <a:ext cx="411480" cy="21031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Aft>
                <a:spcPts val="1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22592" y="2194560"/>
            <a:ext cx="4187952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100"/>
              </a:spcAft>
              <a:defRPr sz="1700" b="1">
                <a:solidFill>
                  <a:srgbClr val="101936"/>
                </a:solidFill>
                <a:latin typeface="Aptos"/>
              </a:defRPr>
            </a:pPr>
            <a:r>
              <a:t>Data leakage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22592" y="2706624"/>
            <a:ext cx="4197096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100"/>
              </a:spcAft>
              <a:defRPr sz="1300" b="0">
                <a:solidFill>
                  <a:srgbClr val="6F7890"/>
                </a:solidFill>
                <a:latin typeface="Aptos"/>
              </a:defRPr>
            </a:pPr>
            <a:r>
              <a:t>Fit dello scaler solo sul train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547872"/>
            <a:ext cx="5285232" cy="136245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7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32103" y="3803904"/>
            <a:ext cx="475488" cy="475488"/>
          </a:xfrm>
          <a:prstGeom prst="roundRect">
            <a:avLst>
              <a:gd name="adj" fmla="val 9000"/>
            </a:avLst>
          </a:prstGeom>
          <a:solidFill>
            <a:srgbClr val="715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59536" y="3904487"/>
            <a:ext cx="411480" cy="21031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Aft>
                <a:spcPts val="1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81328" y="3758184"/>
            <a:ext cx="4187952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100"/>
              </a:spcAft>
              <a:defRPr sz="1700" b="1">
                <a:solidFill>
                  <a:srgbClr val="101936"/>
                </a:solidFill>
                <a:latin typeface="Aptos"/>
              </a:defRPr>
            </a:pPr>
            <a:r>
              <a:t>Filtro booleano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81328" y="4270248"/>
            <a:ext cx="4197096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100"/>
              </a:spcAft>
              <a:defRPr sz="1300" b="0">
                <a:solidFill>
                  <a:srgbClr val="6F7890"/>
                </a:solidFill>
                <a:latin typeface="Aptos"/>
              </a:defRPr>
            </a:pPr>
            <a:r>
              <a:t>Usare &amp; e parentesi in Pandas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81344" y="3547872"/>
            <a:ext cx="5285232" cy="136245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7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373368" y="3803904"/>
            <a:ext cx="475488" cy="475488"/>
          </a:xfrm>
          <a:prstGeom prst="roundRect">
            <a:avLst>
              <a:gd name="adj" fmla="val 9000"/>
            </a:avLst>
          </a:prstGeom>
          <a:solidFill>
            <a:srgbClr val="715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0800" y="3904487"/>
            <a:ext cx="411480" cy="21031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Aft>
                <a:spcPts val="1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22592" y="3758184"/>
            <a:ext cx="4187952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100"/>
              </a:spcAft>
              <a:defRPr sz="1700" b="1">
                <a:solidFill>
                  <a:srgbClr val="101936"/>
                </a:solidFill>
                <a:latin typeface="Aptos"/>
              </a:defRPr>
            </a:pPr>
            <a:r>
              <a:t>Codice fragile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22592" y="4270248"/>
            <a:ext cx="4197096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100"/>
              </a:spcAft>
              <a:defRPr sz="1300" b="0">
                <a:solidFill>
                  <a:srgbClr val="6F7890"/>
                </a:solidFill>
                <a:latin typeface="Aptos"/>
              </a:defRPr>
            </a:pPr>
            <a:r>
              <a:t>Nomi di colonna espliciti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715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8229600" cy="246888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r>
              <a:rPr sz="1100" b="1">
                <a:solidFill>
                  <a:srgbClr val="644BF2"/>
                </a:solidFill>
              </a:rPr>
              <a:t>17 / CONCLUSIONI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22376"/>
            <a:ext cx="11018520" cy="49377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100"/>
              </a:spcAft>
              <a:defRPr sz="2900" b="1">
                <a:solidFill>
                  <a:srgbClr val="101936"/>
                </a:solidFill>
                <a:latin typeface="Aptos"/>
              </a:defRPr>
            </a:pPr>
            <a:r>
              <a:t>Dai dati alle scelte: 3 messaggi finali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307592"/>
            <a:ext cx="1088136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100"/>
              </a:spcAft>
              <a:defRPr sz="1300" b="0">
                <a:solidFill>
                  <a:srgbClr val="6F7890"/>
                </a:solidFill>
                <a:latin typeface="Aptos"/>
              </a:defRPr>
            </a:pPr>
            <a:r>
              <a:t>Il valore dell’analisi è anche capire dove i modelli non sono ancora affidabili.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6528816"/>
            <a:ext cx="10963656" cy="10972"/>
          </a:xfrm>
          <a:prstGeom prst="rect">
            <a:avLst/>
          </a:prstGeom>
          <a:solidFill>
            <a:srgbClr val="E7E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1792" y="6574536"/>
            <a:ext cx="7315200" cy="20116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100"/>
              </a:spcAft>
              <a:defRPr sz="900" b="0">
                <a:solidFill>
                  <a:srgbClr val="6F7890"/>
                </a:solidFill>
                <a:latin typeface="Aptos"/>
              </a:defRPr>
            </a:pPr>
            <a:r>
              <a:t>EPICODE  •  TOYSGROUP  |  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1672" y="6565392"/>
            <a:ext cx="457200" cy="21031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900"/>
              <a:t>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" y="1938528"/>
            <a:ext cx="10881360" cy="10241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7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68680" y="2203704"/>
            <a:ext cx="420624" cy="420624"/>
          </a:xfrm>
          <a:prstGeom prst="roundRect">
            <a:avLst>
              <a:gd name="adj" fmla="val 9000"/>
            </a:avLst>
          </a:prstGeom>
          <a:solidFill>
            <a:srgbClr val="715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2304288"/>
            <a:ext cx="338328" cy="19202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Aft>
                <a:spcPts val="1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81328" y="2176272"/>
            <a:ext cx="2221992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100"/>
              </a:spcAft>
              <a:defRPr sz="1600" b="1">
                <a:solidFill>
                  <a:srgbClr val="7154EF"/>
                </a:solidFill>
                <a:latin typeface="Aptos"/>
              </a:defRPr>
            </a:pPr>
            <a:r>
              <a:t>CONCENTRARE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85615" y="2167128"/>
            <a:ext cx="7333488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100"/>
              </a:spcAft>
              <a:defRPr sz="1500" b="0">
                <a:solidFill>
                  <a:srgbClr val="101936"/>
                </a:solidFill>
                <a:latin typeface="Aptos"/>
              </a:defRPr>
            </a:pPr>
            <a:r>
              <a:t>Outdoor pesa circa il 59% sul fatturato: monitorare la categoria trainante.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" y="3136392"/>
            <a:ext cx="10881360" cy="10241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7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68680" y="3401568"/>
            <a:ext cx="420624" cy="420624"/>
          </a:xfrm>
          <a:prstGeom prst="roundRect">
            <a:avLst>
              <a:gd name="adj" fmla="val 9000"/>
            </a:avLst>
          </a:prstGeom>
          <a:solidFill>
            <a:srgbClr val="715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3502152"/>
            <a:ext cx="338328" cy="19202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Aft>
                <a:spcPts val="1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374136"/>
            <a:ext cx="2221992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100"/>
              </a:spcAft>
              <a:defRPr sz="1600" b="1">
                <a:solidFill>
                  <a:srgbClr val="7154EF"/>
                </a:solidFill>
                <a:latin typeface="Aptos"/>
              </a:defRPr>
            </a:pPr>
            <a:r>
              <a:t>PREVENIRE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85615" y="3364992"/>
            <a:ext cx="7333488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100"/>
              </a:spcAft>
              <a:defRPr sz="1500" b="0">
                <a:solidFill>
                  <a:srgbClr val="101936"/>
                </a:solidFill>
                <a:latin typeface="Aptos"/>
              </a:defRPr>
            </a:pPr>
            <a:r>
              <a:t>Per il churn, valutare la soglia 0,3 se è più costoso perdere un rivenditore.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9224" y="4334256"/>
            <a:ext cx="10881360" cy="10241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7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68680" y="4599432"/>
            <a:ext cx="420624" cy="420624"/>
          </a:xfrm>
          <a:prstGeom prst="roundRect">
            <a:avLst>
              <a:gd name="adj" fmla="val 9000"/>
            </a:avLst>
          </a:prstGeom>
          <a:solidFill>
            <a:srgbClr val="1DA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4700016"/>
            <a:ext cx="338328" cy="19202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Aft>
                <a:spcPts val="1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81328" y="4572000"/>
            <a:ext cx="2221992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100"/>
              </a:spcAft>
              <a:defRPr sz="1600" b="1">
                <a:solidFill>
                  <a:srgbClr val="7154EF"/>
                </a:solidFill>
                <a:latin typeface="Aptos"/>
              </a:defRPr>
            </a:pPr>
            <a:r>
              <a:t>MIGLIORARE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85615" y="4562856"/>
            <a:ext cx="7333488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100"/>
              </a:spcAft>
              <a:defRPr sz="1500" b="0">
                <a:solidFill>
                  <a:srgbClr val="101936"/>
                </a:solidFill>
                <a:latin typeface="Aptos"/>
              </a:defRPr>
            </a:pPr>
            <a:r>
              <a:t>Per forecast attendibili servono più dati, nuove variabili e test cronologici.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5806440"/>
            <a:ext cx="10835640" cy="29260"/>
          </a:xfrm>
          <a:prstGeom prst="rect">
            <a:avLst/>
          </a:prstGeom>
          <a:solidFill>
            <a:srgbClr val="715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76656" y="5980176"/>
            <a:ext cx="10771632" cy="43891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Aft>
                <a:spcPts val="100"/>
              </a:spcAft>
              <a:defRPr sz="2200" b="1">
                <a:solidFill>
                  <a:srgbClr val="101936"/>
                </a:solidFill>
                <a:latin typeface="Aptos"/>
              </a:defRPr>
            </a:pPr>
            <a:r>
              <a:t>Grazie!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893</Words>
  <Application>Microsoft Office PowerPoint</Application>
  <PresentationFormat>Widescreen</PresentationFormat>
  <Paragraphs>200</Paragraphs>
  <Slides>17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17</vt:i4>
      </vt:variant>
    </vt:vector>
  </HeadingPairs>
  <TitlesOfParts>
    <vt:vector size="21" baseType="lpstr">
      <vt:lpstr>Aptos</vt:lpstr>
      <vt:lpstr>Arial</vt:lpstr>
      <vt:lpstr>Calibri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Andrea</dc:creator>
  <cp:keywords/>
  <dc:description>generated using python-pptx</dc:description>
  <cp:lastModifiedBy>andrea calzia</cp:lastModifiedBy>
  <cp:revision>1</cp:revision>
  <dcterms:created xsi:type="dcterms:W3CDTF">2013-01-27T09:14:16Z</dcterms:created>
  <dcterms:modified xsi:type="dcterms:W3CDTF">2026-10-25T17:21:53Z</dcterms:modified>
  <cp:category/>
</cp:coreProperties>
</file>